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279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GymVision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00D4AA"/>
                </a:solidFill>
                <a:latin typeface="Calibri"/>
              </a:rPr>
              <a:t>Da primeira versão ao CI/CD — histórico completo do desenvolvimento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0B8C2"/>
                </a:solidFill>
                <a:latin typeface="Calibri"/>
              </a:rPr>
              <a:t>Matheus Souza  ·  Junho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VISÃO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 que é o GymVision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789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Sistema de monitoramento e correção de postura em tempo real para academias. Usa visão computacional para detectar erros biomecânicos durante exercícios e notificar o professor imediatamente — reduzindo o risco de lesões por má execução.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Feedback instantâneo para o aluno (app Android) e para o professor (dashboard web)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5 exercícios suportados: Squat, Deadlift, Lunge, Bench Press, Bent-over Row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9 microsserviços orquestrados via Docker Compose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Funciona online (servidor) e offline (análise local no celular)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Microsserviços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286000" cy="685800"/>
          </a:xfrm>
          <a:prstGeom prst="roundRect">
            <a:avLst/>
          </a:prstGeom>
          <a:solidFill>
            <a:srgbClr val="008F73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App Android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34640"/>
            <a:ext cx="2286000" cy="685800"/>
          </a:xfrm>
          <a:prstGeom prst="roundRect">
            <a:avLst/>
          </a:prstGeom>
          <a:solidFill>
            <a:srgbClr val="008F73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Dashboard 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2148840"/>
            <a:ext cx="2286000" cy="685800"/>
          </a:xfrm>
          <a:prstGeom prst="roundRect">
            <a:avLst/>
          </a:prstGeom>
          <a:solidFill>
            <a:srgbClr val="3B4555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Kong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097280"/>
            <a:ext cx="2286000" cy="685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pose-service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965960"/>
            <a:ext cx="2286000" cy="685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session-service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2834640"/>
            <a:ext cx="2286000" cy="685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user-service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703320"/>
            <a:ext cx="2286000" cy="685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analytics-service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508760"/>
            <a:ext cx="2286000" cy="685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notification-service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743200"/>
            <a:ext cx="2286000" cy="685800"/>
          </a:xfrm>
          <a:prstGeom prst="roundRect">
            <a:avLst/>
          </a:prstGeom>
          <a:solidFill>
            <a:srgbClr val="6B4E16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RabbitMQ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07899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0B8C2"/>
                </a:solidFill>
                <a:latin typeface="Calibri"/>
              </a:rPr>
              <a:t>Bancos de dados: PostgreSQL (usuários) · TimescaleDB (sessões/reps) · MongoDB (progresso/gamificação) · Redis (cache de vídeo) · MinIO (armazenamento S3-compatible)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0B8C2"/>
                </a:solidFill>
                <a:latin typeface="Calibri"/>
              </a:rPr>
              <a:t>Comunicação assíncrona via RabbitMQ (exchange topic "gymvision", fan-out garantido por fila dedicada por serviço)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LINHA DO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Do primeiro commit ao CI/CD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1088136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4564" y="2249424"/>
            <a:ext cx="164592" cy="164592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813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D4AA"/>
                </a:solidFill>
                <a:latin typeface="Calibri"/>
              </a:rPr>
              <a:t>15-19/05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1722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Fundação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1722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B0B8C2"/>
                </a:solidFill>
                <a:latin typeface="Calibri"/>
              </a:rPr>
              <a:t>Pose-service + detecção de landmarks</a:t>
            </a:r>
          </a:p>
        </p:txBody>
      </p:sp>
      <p:sp>
        <p:nvSpPr>
          <p:cNvPr id="12" name="Oval 11"/>
          <p:cNvSpPr/>
          <p:nvPr/>
        </p:nvSpPr>
        <p:spPr>
          <a:xfrm>
            <a:off x="3278124" y="2249424"/>
            <a:ext cx="164592" cy="164592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3640" y="1783080"/>
            <a:ext cx="1813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D4AA"/>
                </a:solidFill>
                <a:latin typeface="Calibri"/>
              </a:rPr>
              <a:t>09/06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9360" y="2697480"/>
            <a:ext cx="1722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Refatoração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9360" y="3154680"/>
            <a:ext cx="1722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B0B8C2"/>
                </a:solidFill>
                <a:latin typeface="Calibri"/>
              </a:rPr>
              <a:t>Modelo de pose + app Android (Compose)</a:t>
            </a:r>
          </a:p>
        </p:txBody>
      </p:sp>
      <p:sp>
        <p:nvSpPr>
          <p:cNvPr id="16" name="Oval 15"/>
          <p:cNvSpPr/>
          <p:nvPr/>
        </p:nvSpPr>
        <p:spPr>
          <a:xfrm>
            <a:off x="5091684" y="2249424"/>
            <a:ext cx="164592" cy="164592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7200" y="1783080"/>
            <a:ext cx="1813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D4AA"/>
                </a:solidFill>
                <a:latin typeface="Calibri"/>
              </a:rPr>
              <a:t>18/06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2920" y="2697480"/>
            <a:ext cx="1722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Sprint 1 + 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2920" y="3154680"/>
            <a:ext cx="1722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B0B8C2"/>
                </a:solidFill>
                <a:latin typeface="Calibri"/>
              </a:rPr>
              <a:t>Segurança, infra, e motor de IA experimental</a:t>
            </a:r>
          </a:p>
        </p:txBody>
      </p:sp>
      <p:sp>
        <p:nvSpPr>
          <p:cNvPr id="20" name="Oval 19"/>
          <p:cNvSpPr/>
          <p:nvPr/>
        </p:nvSpPr>
        <p:spPr>
          <a:xfrm>
            <a:off x="6905244" y="2249424"/>
            <a:ext cx="164592" cy="164592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783080"/>
            <a:ext cx="1813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D4AA"/>
                </a:solidFill>
                <a:latin typeface="Calibri"/>
              </a:rPr>
              <a:t>23/06 manhã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697480"/>
            <a:ext cx="1722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Restauração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154680"/>
            <a:ext cx="1722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B0B8C2"/>
                </a:solidFill>
                <a:latin typeface="Calibri"/>
              </a:rPr>
              <a:t>Feature "Testar Vídeo" de volta</a:t>
            </a:r>
          </a:p>
        </p:txBody>
      </p:sp>
      <p:sp>
        <p:nvSpPr>
          <p:cNvPr id="24" name="Oval 23"/>
          <p:cNvSpPr/>
          <p:nvPr/>
        </p:nvSpPr>
        <p:spPr>
          <a:xfrm>
            <a:off x="8718804" y="2249424"/>
            <a:ext cx="164592" cy="164592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94320" y="1783080"/>
            <a:ext cx="1813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D4AA"/>
                </a:solidFill>
                <a:latin typeface="Calibri"/>
              </a:rPr>
              <a:t>23/06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40040" y="2697480"/>
            <a:ext cx="1722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Reversão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0040" y="3154680"/>
            <a:ext cx="1722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B0B8C2"/>
                </a:solidFill>
                <a:latin typeface="Calibri"/>
              </a:rPr>
              <a:t>IA → motor de regras (avisos brandos)</a:t>
            </a:r>
          </a:p>
        </p:txBody>
      </p:sp>
      <p:sp>
        <p:nvSpPr>
          <p:cNvPr id="28" name="Oval 27"/>
          <p:cNvSpPr/>
          <p:nvPr/>
        </p:nvSpPr>
        <p:spPr>
          <a:xfrm>
            <a:off x="10532364" y="2249424"/>
            <a:ext cx="164592" cy="164592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07880" y="1783080"/>
            <a:ext cx="1813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D4AA"/>
                </a:solidFill>
                <a:latin typeface="Calibri"/>
              </a:rPr>
              <a:t>23/06 noite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600" y="2697480"/>
            <a:ext cx="1722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Hardening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53600" y="3154680"/>
            <a:ext cx="1722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B0B8C2"/>
                </a:solidFill>
                <a:latin typeface="Calibri"/>
              </a:rPr>
              <a:t>Bugs reais corrigidos + CI/CD + Docker 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FASE 1 · FUNDAÇÃO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Primeira versão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65760"/>
            <a:ext cx="1554480" cy="411480"/>
          </a:xfrm>
          <a:prstGeom prst="roundRect">
            <a:avLst/>
          </a:prstGeom>
          <a:solidFill>
            <a:srgbClr val="00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15–19/05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Commit inicial: estrutura base dos microsserviços e do pose-service em Python/FastAPI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Detecção de landmarks corporais (MediaPipe BlazePose) e cálculo de ângulos articulares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Motor de regras biomecânicas (exercise_analyzer.py): squat, deadlift, lunge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Correções logo em seguida: ajustes e melhorias completas no projeto, correção de detecção de landmarks em imagens reais (vs. apenas sintéticas)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FASE 2 · REFATORAÇÃO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Modelo de pose + App Android em Compose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65760"/>
            <a:ext cx="1554480" cy="411480"/>
          </a:xfrm>
          <a:prstGeom prst="roundRect">
            <a:avLst/>
          </a:prstGeom>
          <a:solidFill>
            <a:srgbClr val="00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09/06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Atualização do modelo de pose (MoveNet Thunder via TensorFlow Serving) para melhorar a detecção de landmarks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App Android totalmente refeito em Jetpack Compose + Material 3 (era anterior em XML/Views)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Base para as telas atuais: câmera ao vivo, progresso, perfil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FASE 3 · SPRINT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Segurança, infraestrutura e motor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65760"/>
            <a:ext cx="1554480" cy="411480"/>
          </a:xfrm>
          <a:prstGeom prst="roundRect">
            <a:avLst/>
          </a:prstGeom>
          <a:solidFill>
            <a:srgbClr val="00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18/06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0B8C2"/>
                </a:solidFill>
                <a:latin typeface="Calibri"/>
              </a:rPr>
              <a:t>Maior commit do projeto até então — entregas em paralelo: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CI/CD inicial (GitHub Actions) expandido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Backup automático (backup-service, cron 03:00 UTC)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Refresh token rotation no user-service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LGPD: exportação e exclusão de dados do usuário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Relatório PDF mensal por e-mail (analytics-service)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78308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App Android redesenhado (Compose + Material 3)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Modo offline com ML Kit (análise local sem internet)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Motor de exercícios migrado para IA (RandomForest)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00">
                <a:solidFill>
                  <a:srgbClr val="B0B8C2"/>
                </a:solidFill>
                <a:latin typeface="Calibri"/>
              </a:rPr>
              <a:t>    ‣  Classificador + analisador treinados em dataset sintético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00">
                <a:solidFill>
                  <a:srgbClr val="B0B8C2"/>
                </a:solidFill>
                <a:latin typeface="Calibri"/>
              </a:rPr>
              <a:t>    ‣  Cobertura completa: SQUAT, DEADLIFT, BENCH_PRESS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FASE 3 · MOTOR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Por que substituir as regras por IA?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Hipótese: um modelo estatístico poderia generalizar melhor que regras fixas em filmagem real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Sem dataset real anotado disponível → estratégia de bootstrap (weak supervision):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00">
                <a:solidFill>
                  <a:srgbClr val="B0B8C2"/>
                </a:solidFill>
                <a:latin typeface="Calibri"/>
              </a:rPr>
              <a:t>    ‣  Landmarks sintéticos gerados por geometria inversa (ai/synthetic_body.py)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00">
                <a:solidFill>
                  <a:srgbClr val="B0B8C2"/>
                </a:solidFill>
                <a:latin typeface="Calibri"/>
              </a:rPr>
              <a:t>    ‣  Rótulos de erro/score vindos do próprio motor de regras, atuando como "professor"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Validado contra vídeo real ("Bad squat form"): 48/48 testes passando, pipeline completo até o WebSocket do professor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No mesmo dia, 2 bugs reais encontrados e corrigidos: score zerado no bench press (pernas fora de quadro) e classify_frames() nunca conectado ao pipeline de vídeo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FASE 4 · RESTAURAÇÃO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Feature "Testar Vídeo" de volta ao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65760"/>
            <a:ext cx="1554480" cy="411480"/>
          </a:xfrm>
          <a:prstGeom prst="roundRect">
            <a:avLst/>
          </a:prstGeom>
          <a:solidFill>
            <a:srgbClr val="00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23/06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Causa raiz: a tela e o ViewModel já existiam completos desde o Sprint 1, mas nunca foram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B0B8C2"/>
                </a:solidFill>
                <a:latin typeface="Calibri"/>
              </a:rPr>
              <a:t>    ‣  adicionados à barra de navegação inferior — rota órfã, sem ponto de entrada na UI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Corrigido: item "Testar" adicionado à navegação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8 vídeos reais de teste (squat, deadlift, lunge, bench press, bent-over row) embutidos como assets do APK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FileProvider configurado para gerar URIs de conteúdo seguras a partir dos vídeos de exemplo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FASE 5 · DECISÃO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Reversão do motor de IA para o motor de regras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65760"/>
            <a:ext cx="1554480" cy="411480"/>
          </a:xfrm>
          <a:prstGeom prst="roundRect">
            <a:avLst/>
          </a:prstGeom>
          <a:solidFill>
            <a:srgbClr val="00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23/06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Usuário testou o motor de IA com os vídeos reais e achou os avisos de erro visivelmente mais brandos que o motor de regras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9E0B"/>
                </a:solidFill>
                <a:latin typeface="Calibri"/>
              </a:rPr>
              <a:t>CAUSA RAIZ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Dataset de treino sintético rotulado pelo próprio motor de regras (weak supervision)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Um classificador estatístico treinado para imitar regras determinísticas tende a suavizar os extremos (regressão à média) — especialmente a classe HIGH (minoritária)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Conclusão do usuário: a IA nunca superaria as regras nesse desenho — não vale a complexidade adicional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Hybrid (regras como piso + IA como refinamento) também descartado: complicação desnecessária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Decisão: revert apenas de import (sem alterar lógica) — código da IA mantido no disco, desconectado, para retomar com dados reais no futuro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FASE 6 · HARDENING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Bugs reais encontrados após a reversão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80015" y="365760"/>
            <a:ext cx="1554480" cy="411480"/>
          </a:xfrm>
          <a:prstGeom prst="roundRect">
            <a:avLst/>
          </a:prstGeom>
          <a:solidFill>
            <a:srgbClr val="008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23/06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Score zerado em BENCH_PRESS/BENT_OVER_ROW: bug só tinha sido corrigido do lado da IA — calculate_score() zerava score sempre que phase==UNKNOWN (joelho fora de quadro), irrelevante para supino/remada. Corrigido com force_assessable.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Vídeo "Bad squat form" com valgo visível dava avg_score=100 e zero erros: diagnóstico frame-a-frame no pipeline de produção mostrou desvio real de ~1.8–3.3% no joelho direito durante o movimento, mas o threshold (4.0%) nunca era cruzado. Ajustado para 2.0%, validado sem falso positivo.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Overlay de landmarks invisível no "Testar Vídeo": VideoView faz letterbox do vídeo, mas o overlay desenhava no tamanho cheio do Canvas — esqueleto caía fora da área visível. Corrigido calculando o retângulo real do vídeo e passando para o overlay.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FASE 7 ·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Pipeline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Dispara em push/PR para main, master, develop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Jobs de teste por serviço: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B0B8C2"/>
                </a:solidFill>
                <a:latin typeface="Calibri"/>
              </a:rPr>
              <a:t>    ‣  user-service-test (Gradle + Postgres + Redis)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B0B8C2"/>
                </a:solidFill>
                <a:latin typeface="Calibri"/>
              </a:rPr>
              <a:t>    ‣  pose-service-test (pytest)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B0B8C2"/>
                </a:solidFill>
                <a:latin typeface="Calibri"/>
              </a:rPr>
              <a:t>    ‣  session-service-build (Gradle)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B0B8C2"/>
                </a:solidFill>
                <a:latin typeface="Calibri"/>
              </a:rPr>
              <a:t>    ‣  analytics-service-test (flake8)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B0B8C2"/>
                </a:solidFill>
                <a:latin typeface="Calibri"/>
              </a:rPr>
              <a:t>    ‣  dashboard-build (npm + Vite)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B0B8C2"/>
                </a:solidFill>
                <a:latin typeface="Calibri"/>
              </a:rPr>
              <a:t>    ‣  android-build (Gradle assembleDebug + artefato)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B0B8C2"/>
                </a:solidFill>
                <a:latin typeface="Calibri"/>
              </a:rPr>
              <a:t>    ‣  compose-validate (docker compose config)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build-and-push: builda e publica imagem de cada serviço (depois que os testes/builds passam)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deploy-staging: SSH no servidor + docker compose pull/up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Bug encontrado e corrigido nesta sessão: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B0B8C2"/>
                </a:solidFill>
                <a:latin typeface="Calibri"/>
              </a:rPr>
              <a:t>    ‣  o trigger só aceitava main/develop — mas o branch real do repo é master. O pipeline nunca tinha publicado nada de fato.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FASE 7 ·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Publicação no Docker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691640" cy="5486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user-service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1463040"/>
            <a:ext cx="1691640" cy="5486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pose-service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463040"/>
            <a:ext cx="1691640" cy="5486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session-service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40280"/>
            <a:ext cx="1691640" cy="5486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analytics-service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240280"/>
            <a:ext cx="1691640" cy="5486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backup-service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240280"/>
            <a:ext cx="1691640" cy="5486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notification-service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0B8C2"/>
                </a:solidFill>
                <a:latin typeface="Calibri"/>
              </a:rPr>
              <a:t>publica em 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4937760" cy="640080"/>
          </a:xfrm>
          <a:prstGeom prst="roundRect">
            <a:avLst/>
          </a:prstGeom>
          <a:solidFill>
            <a:srgbClr val="24292E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ghcr.io/&lt;owner&gt;/gymvision/&lt;serviço&gt;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3657600"/>
            <a:ext cx="4937760" cy="640080"/>
          </a:xfrm>
          <a:prstGeom prst="roundRect">
            <a:avLst/>
          </a:prstGeom>
          <a:solidFill>
            <a:srgbClr val="1D63E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docker.io/souzza-matheus/gymvision-&lt;serviço&gt;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5720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Cada serviço publicado nos DOIS registries simultaneamente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notification-service incluído — tinha Dockerfile mas não estava no job de publicação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Pendência: criar Access Token no Docker Hub e cadastrar DOCKERHUB_USERNAME / DOCKERHUB_TOKEN nos secrets do GitHub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ESTADO ATUAL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Métricas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429000" cy="1645920"/>
          </a:xfrm>
          <a:prstGeom prst="roundRect">
            <a:avLst/>
          </a:prstGeom>
          <a:solidFill>
            <a:srgbClr val="1B2129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429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00D4AA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3429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0B8C2"/>
                </a:solidFill>
                <a:latin typeface="Calibri"/>
              </a:rPr>
              <a:t>microsserviços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554480"/>
            <a:ext cx="3429000" cy="1645920"/>
          </a:xfrm>
          <a:prstGeom prst="roundRect">
            <a:avLst/>
          </a:prstGeom>
          <a:solidFill>
            <a:srgbClr val="1B2129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737360"/>
            <a:ext cx="3429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00D4AA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560320"/>
            <a:ext cx="3429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0B8C2"/>
                </a:solidFill>
                <a:latin typeface="Calibri"/>
              </a:rPr>
              <a:t>exercícios suportados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554480"/>
            <a:ext cx="3429000" cy="1645920"/>
          </a:xfrm>
          <a:prstGeom prst="roundRect">
            <a:avLst/>
          </a:prstGeom>
          <a:solidFill>
            <a:srgbClr val="1B2129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0" y="1737360"/>
            <a:ext cx="3429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00D4AA"/>
                </a:solidFill>
                <a:latin typeface="Calibri"/>
              </a:rPr>
              <a:t>48/48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2560320"/>
            <a:ext cx="3429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0B8C2"/>
                </a:solidFill>
                <a:latin typeface="Calibri"/>
              </a:rPr>
              <a:t>testes passando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74720"/>
            <a:ext cx="3429000" cy="1645920"/>
          </a:xfrm>
          <a:prstGeom prst="roundRect">
            <a:avLst/>
          </a:prstGeom>
          <a:solidFill>
            <a:srgbClr val="1B2129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57600"/>
            <a:ext cx="3429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00D4AA"/>
                </a:solidFill>
                <a:latin typeface="Calibr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80560"/>
            <a:ext cx="3429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0B8C2"/>
                </a:solidFill>
                <a:latin typeface="Calibri"/>
              </a:rPr>
              <a:t>containers Docker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3474720"/>
            <a:ext cx="3429000" cy="1645920"/>
          </a:xfrm>
          <a:prstGeom prst="roundRect">
            <a:avLst/>
          </a:prstGeom>
          <a:solidFill>
            <a:srgbClr val="1B2129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0" y="3657600"/>
            <a:ext cx="3429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00D4AA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4480560"/>
            <a:ext cx="3429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0B8C2"/>
                </a:solidFill>
                <a:latin typeface="Calibri"/>
              </a:rPr>
              <a:t>registries (ghcr.io + Docker Hub)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3474720"/>
            <a:ext cx="3429000" cy="1645920"/>
          </a:xfrm>
          <a:prstGeom prst="roundRect">
            <a:avLst/>
          </a:prstGeom>
          <a:solidFill>
            <a:srgbClr val="1B2129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0" y="3657600"/>
            <a:ext cx="3429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00D4AA"/>
                </a:solidFill>
                <a:latin typeface="Calibri"/>
              </a:rPr>
              <a:t>10+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0" y="4480560"/>
            <a:ext cx="3429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B0B8C2"/>
                </a:solidFill>
                <a:latin typeface="Calibri"/>
              </a:rPr>
              <a:t>telas no app Android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D4AA"/>
                </a:solidFill>
                <a:latin typeface="Calibri"/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Pendências em aberto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Configurar secrets DOCKERHUB_USERNAME / DOCKERHUB_TOKEN no GitHub para o build-and-push publicar de fato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Decidir o destino de pose-service/ai/dataset_generator.py (imports não usados de thresholds de LUNGE/ROW — início de uma extensão da IA desconectada)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Configurar secrets STAGING_HOST/USER/SSH_KEY para habilitar o deploy automático em staging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Avaliar retomar o motor de IA no futuro, mas treinado com dados reais anotados (não sintéticos) — único caminho para superar o motor de regras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279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00D4AA"/>
                </a:solidFill>
                <a:latin typeface="Calibri"/>
              </a:rPr>
              <a:t>GymVision — histórico do projeto até o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B0B8C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